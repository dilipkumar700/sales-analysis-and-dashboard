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40931801.62</c:v>
                </c:pt>
                <c:pt idx="1">
                  <c:v>27619564.29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Zorlu Center</c:v>
                  </c:pt>
                  <c:pt idx="1">
                    <c:v>Istinye Park</c:v>
                  </c:pt>
                  <c:pt idx="2">
                    <c:v>Metropol AVM</c:v>
                  </c:pt>
                  <c:pt idx="3">
                    <c:v>Metrocity</c:v>
                  </c:pt>
                  <c:pt idx="4">
                    <c:v>Kanyon</c:v>
                  </c:pt>
                  <c:pt idx="5">
                    <c:v>Mall of Istanbul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5075</c:v>
                </c:pt>
                <c:pt idx="1">
                  <c:v>9781</c:v>
                </c:pt>
                <c:pt idx="2">
                  <c:v>10161</c:v>
                </c:pt>
                <c:pt idx="3">
                  <c:v>15011</c:v>
                </c:pt>
                <c:pt idx="4">
                  <c:v>19823</c:v>
                </c:pt>
                <c:pt idx="5">
                  <c:v>19943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Transaction 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Debit Card</c:v>
                  </c:pt>
                  <c:pt idx="1">
                    <c:v>Credit Card</c:v>
                  </c:pt>
                  <c:pt idx="2">
                    <c:v>Cash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20079</c:v>
                </c:pt>
                <c:pt idx="1">
                  <c:v>34931</c:v>
                </c:pt>
                <c:pt idx="2">
                  <c:v>44447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Revenue (₺)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Debit Card</c:v>
                  </c:pt>
                  <c:pt idx="1">
                    <c:v>Credit Card</c:v>
                  </c:pt>
                  <c:pt idx="2">
                    <c:v>Cash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13794858</c:v>
                </c:pt>
                <c:pt idx="1">
                  <c:v>24051476</c:v>
                </c:pt>
                <c:pt idx="2">
                  <c:v>30705030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Young Adult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Books</c:v>
                  </c:pt>
                  <c:pt idx="1">
                    <c:v>Clothing</c:v>
                  </c:pt>
                  <c:pt idx="2">
                    <c:v>Cosmetics</c:v>
                  </c:pt>
                  <c:pt idx="3">
                    <c:v>Food &amp; Bev</c:v>
                  </c:pt>
                  <c:pt idx="4">
                    <c:v>Shoes</c:v>
                  </c:pt>
                  <c:pt idx="5">
                    <c:v>Technology</c:v>
                  </c:pt>
                  <c:pt idx="6">
                    <c:v>Toys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1253</c:v>
                </c:pt>
                <c:pt idx="1">
                  <c:v>8726</c:v>
                </c:pt>
                <c:pt idx="2">
                  <c:v>3719</c:v>
                </c:pt>
                <c:pt idx="3">
                  <c:v>3687</c:v>
                </c:pt>
                <c:pt idx="4">
                  <c:v>2529</c:v>
                </c:pt>
                <c:pt idx="5">
                  <c:v>1243</c:v>
                </c:pt>
                <c:pt idx="6">
                  <c:v>2616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Adult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Books</c:v>
                  </c:pt>
                  <c:pt idx="1">
                    <c:v>Clothing</c:v>
                  </c:pt>
                  <c:pt idx="2">
                    <c:v>Cosmetics</c:v>
                  </c:pt>
                  <c:pt idx="3">
                    <c:v>Food &amp; Bev</c:v>
                  </c:pt>
                  <c:pt idx="4">
                    <c:v>Shoes</c:v>
                  </c:pt>
                  <c:pt idx="5">
                    <c:v>Technology</c:v>
                  </c:pt>
                  <c:pt idx="6">
                    <c:v>Toys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1234</c:v>
                </c:pt>
                <c:pt idx="1">
                  <c:v>8631</c:v>
                </c:pt>
                <c:pt idx="2">
                  <c:v>3801</c:v>
                </c:pt>
                <c:pt idx="3">
                  <c:v>3819</c:v>
                </c:pt>
                <c:pt idx="4">
                  <c:v>2476</c:v>
                </c:pt>
                <c:pt idx="5">
                  <c:v>1310</c:v>
                </c:pt>
                <c:pt idx="6">
                  <c:v>2494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Middle-aged</c:v>
                </c:pt>
              </c:strCache>
            </c:strRef>
          </c:tx>
          <c:spPr>
            <a:solidFill>
              <a:srgbClr val="E8A8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Books</c:v>
                  </c:pt>
                  <c:pt idx="1">
                    <c:v>Clothing</c:v>
                  </c:pt>
                  <c:pt idx="2">
                    <c:v>Cosmetics</c:v>
                  </c:pt>
                  <c:pt idx="3">
                    <c:v>Food &amp; Bev</c:v>
                  </c:pt>
                  <c:pt idx="4">
                    <c:v>Shoes</c:v>
                  </c:pt>
                  <c:pt idx="5">
                    <c:v>Technology</c:v>
                  </c:pt>
                  <c:pt idx="6">
                    <c:v>Toys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1252</c:v>
                </c:pt>
                <c:pt idx="1">
                  <c:v>8575</c:v>
                </c:pt>
                <c:pt idx="2">
                  <c:v>3804</c:v>
                </c:pt>
                <c:pt idx="3">
                  <c:v>3615</c:v>
                </c:pt>
                <c:pt idx="4">
                  <c:v>2519</c:v>
                </c:pt>
                <c:pt idx="5">
                  <c:v>1232</c:v>
                </c:pt>
                <c:pt idx="6">
                  <c:v>2504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Senior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Books</c:v>
                  </c:pt>
                  <c:pt idx="1">
                    <c:v>Clothing</c:v>
                  </c:pt>
                  <c:pt idx="2">
                    <c:v>Cosmetics</c:v>
                  </c:pt>
                  <c:pt idx="3">
                    <c:v>Food &amp; Bev</c:v>
                  </c:pt>
                  <c:pt idx="4">
                    <c:v>Shoes</c:v>
                  </c:pt>
                  <c:pt idx="5">
                    <c:v>Technology</c:v>
                  </c:pt>
                  <c:pt idx="6">
                    <c:v>Toys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1242</c:v>
                </c:pt>
                <c:pt idx="1">
                  <c:v>8555</c:v>
                </c:pt>
                <c:pt idx="2">
                  <c:v>3773</c:v>
                </c:pt>
                <c:pt idx="3">
                  <c:v>3655</c:v>
                </c:pt>
                <c:pt idx="4">
                  <c:v>2510</c:v>
                </c:pt>
                <c:pt idx="5">
                  <c:v>1211</c:v>
                </c:pt>
                <c:pt idx="6">
                  <c:v>2473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6400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411480" y="3767328"/>
            <a:ext cx="832104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88620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+  Python EDA  |  99,457 Transactions  |  6 Istanbul Malls  | 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4434840"/>
            <a:ext cx="1325880" cy="347472"/>
          </a:xfrm>
          <a:prstGeom prst="rect">
            <a:avLst/>
          </a:prstGeom>
          <a:solidFill>
            <a:srgbClr val="203A54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434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92808" y="4434840"/>
            <a:ext cx="1325880" cy="347472"/>
          </a:xfrm>
          <a:prstGeom prst="rect">
            <a:avLst/>
          </a:prstGeom>
          <a:solidFill>
            <a:srgbClr val="203A54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4434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74136" y="4434840"/>
            <a:ext cx="1325880" cy="347472"/>
          </a:xfrm>
          <a:prstGeom prst="rect">
            <a:avLst/>
          </a:prstGeom>
          <a:solidFill>
            <a:srgbClr val="203A54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4434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55464" y="4434840"/>
            <a:ext cx="1325880" cy="347472"/>
          </a:xfrm>
          <a:prstGeom prst="rect">
            <a:avLst/>
          </a:prstGeom>
          <a:solidFill>
            <a:srgbClr val="203A54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44348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01752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customer_shopping_data.csv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— Python EDA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99,457 transaction rows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10 columns, 0 missing values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6 Istanbul shopping malls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8 product categories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3017520"/>
          </a:xfrm>
          <a:prstGeom prst="rect">
            <a:avLst/>
          </a:prstGeom>
          <a:solidFill>
            <a:srgbClr val="F4F6F9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Sales_dashboard.pbix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Single-page interactive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13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5 chart visuals + 2 slicers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7523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3 custom DAX KPI measures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1912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Built on cleaned_customer_shopping_data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196596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114800"/>
            <a:ext cx="19659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05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99,457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46360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4114800"/>
            <a:ext cx="196596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4114800"/>
            <a:ext cx="19659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41605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₺68.55M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514600" y="46360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114800"/>
            <a:ext cx="196596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114800"/>
            <a:ext cx="19659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1605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63440" y="46360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Malls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12280" y="4114800"/>
            <a:ext cx="1965960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114800"/>
            <a:ext cx="196596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1605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12280" y="46360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Visual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dashboard | 5 visuals | 2 interactive slicers | 3 DAX KPI measures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Visual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🔢 Card Visual (KPI)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Total_customers · Total_sales · Total_quantity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Top-level headline metrics — filters with slicers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📊 Bar Chart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category × Total_sales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Revenue per product 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🥧 Pie Chart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gender × Total_sales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Male vs Female revenue split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📈 Line Chart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month_number × Count of invoice_date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Monthly transaction volume trend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📉 Clustered Bar Chart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shopping_mall × Total_sales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Revenue comparison across 6 malls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🔽 Category Slicer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Filter all visuals by product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5C"/>
                          </a:solidFill>
                        </a:rPr>
                        <a:t>📅 Year Slicer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D7377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Filter all visuals by year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Revenue KPIs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₺68.55M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malls combined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51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99,457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176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1440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051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₺689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17627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₺203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Qty / Invoice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096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 items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83464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246120" y="37033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4096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18–69 yrs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834640"/>
            <a:ext cx="26974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97180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126480" y="370332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 Share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40965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₺40.9M of ₺68.5M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drive nearly 60% of total revenue — reflected in the Power BI pie chart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80160"/>
            <a:ext cx="3657600" cy="155448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20640" y="1280160"/>
            <a:ext cx="109728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9240" y="1463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49240" y="18105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₺40,931,801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49240" y="2286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59.7%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0" y="3108960"/>
            <a:ext cx="3657600" cy="155448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3108960"/>
            <a:ext cx="109728" cy="1554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32918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49240" y="36393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₺27,619,564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349240" y="4114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40.3%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across Istanbul's 6 major malls — as shown in the Power BI clustered bar chart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005840"/>
            <a:ext cx="2468880" cy="1143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09360" y="1005840"/>
            <a:ext cx="24688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1097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19,943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30936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of Istanbul · 20.1%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331720"/>
            <a:ext cx="2468880" cy="1143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2331720"/>
            <a:ext cx="24688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24231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19,823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30936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Kanyon · 19.9%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3657600"/>
            <a:ext cx="2468880" cy="1143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3657600"/>
            <a:ext cx="24688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749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15,011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309360" y="4297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Metrocity · 15.1%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of Istanbul and Kanyon are nearly equal — together they account for 40% of all transactions.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65760" y="3611880"/>
          <a:ext cx="5029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6012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Transactions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Cash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44,447 (44.7%)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₺30.7M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Credit Card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34,931 (35.1%)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₺24.1M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Debit Card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20,079 (20.2%)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₺13.8M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5669280" y="29718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dominates both volume and revenue. Card-based payments total ₺37.8M — an opportunity for digital payment incentives.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count by category across all 4 age groups (from Python EDA)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by 3× over the next category. Distribution is remarkably consistent across all age groups — no segment-specific outlier.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&amp; Stats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Segmentation (pd.qcut — 4 equal quartiles)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389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28016" cy="7132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9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yrs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4356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~¼ of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389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128016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579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468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31–43 yrs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~¼ of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389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71800"/>
            <a:ext cx="128016" cy="7132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266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337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44–56 yrs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1729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~¼ of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3891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40480"/>
            <a:ext cx="128016" cy="713232"/>
          </a:xfrm>
          <a:prstGeom prst="rect">
            <a:avLst/>
          </a:prstGeom>
          <a:solidFill>
            <a:srgbClr val="8E6B3E"/>
          </a:solidFill>
          <a:ln w="12700">
            <a:solidFill>
              <a:srgbClr val="8E6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89534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57–69 yrs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041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~¼ of records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822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95528"/>
                <a:gridCol w="795528"/>
                <a:gridCol w="78638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 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5,250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120640" y="41605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std dev (941) far exceeds the mean (689) — a right-skewed distribution with a tail of premium purchases.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09728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Clothing Dominates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2646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#1 across every age group and gender — 3× higher than next category. Young Adults lead with 8,726 purchases.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14400"/>
            <a:ext cx="10972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Female Revenue Lead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42646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contribute ₺40.9M (59.7%) vs ₺27.6M (40.3%) for males — consistent across all malls.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109728" cy="1737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024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Cash First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142646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 of transactions use Cash (44,447 txns, ₺30.7M). Credit Card is 2nd at 35.1%.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109728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90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Top 2 Malls = 40%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of Istanbul and Kanyon together handle 39,766 transactions — 40% of all volume.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288036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880360"/>
            <a:ext cx="109728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90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Price Right-Skew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₺203 vs mean ₺689. Most purchases are low-value; a small tail of premium items pulls the average up.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97480" cy="1737360"/>
          </a:xfrm>
          <a:prstGeom prst="rect">
            <a:avLst/>
          </a:prstGeom>
          <a:solidFill>
            <a:srgbClr val="F4F6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80360"/>
            <a:ext cx="109728" cy="1737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2990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Consistent Age Spread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392424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age groups show remarkably similar purchase counts — no single demographic dominates.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91440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female demographics with loyalty programmes and female-oriented product expansions to protect the 60% revenue share.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Clothing as a cross-sell anchor — bundle with underperforming categories like Books, Souvenirs, and Technology.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6616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5661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card payments (loyalty points, cashback) to shift the 44.7% cash volume toward traceable digital transactions.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1440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91440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Mall of Istanbul and Kanyon's tenant mix and promotion strategy for replication at Zorlu Center (only 5,075 transactions).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4028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24028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mid-range product tiers to close the gap between the ₺203 median and ₺689 mean — capturing the under-served mid-market.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566160"/>
            <a:ext cx="502920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6616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35661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Power BI dashboard: add a Demographics page, a monthly YoY trend page, and a Payment Insights page for deeper self-service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41148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Sales Analysis &amp; Power BI Dashboard Report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 · Power BI · DAX  |  April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99,457 transactions across 6 Istanbul malls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₺68.55M total revenue  |  Female 59.7% share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61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Clothing #1 category across all demographics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562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Power BI: 5 visuals + 2 slicers + 3 DAX KPIs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Sales Analysis &amp; Dashboard</dc:title>
  <dc:subject>PptxGenJS Presentation</dc:subject>
  <dc:creator>PptxGenJS</dc:creator>
  <cp:lastModifiedBy>PptxGenJS</cp:lastModifiedBy>
  <cp:revision>1</cp:revision>
  <dcterms:created xsi:type="dcterms:W3CDTF">2026-04-18T11:50:36Z</dcterms:created>
  <dcterms:modified xsi:type="dcterms:W3CDTF">2026-04-18T11:50:36Z</dcterms:modified>
</cp:coreProperties>
</file>